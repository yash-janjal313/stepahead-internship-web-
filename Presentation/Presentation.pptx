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3" r:id="rId5"/>
    <p:sldId id="275" r:id="rId6"/>
    <p:sldId id="277" r:id="rId7"/>
    <p:sldId id="280" r:id="rId8"/>
    <p:sldId id="281" r:id="rId9"/>
    <p:sldId id="282" r:id="rId10"/>
    <p:sldId id="279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3F2D"/>
    <a:srgbClr val="D8BEB2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2"/>
    <p:restoredTop sz="96327"/>
  </p:normalViewPr>
  <p:slideViewPr>
    <p:cSldViewPr snapToGrid="0">
      <p:cViewPr>
        <p:scale>
          <a:sx n="100" d="100"/>
          <a:sy n="100" d="100"/>
        </p:scale>
        <p:origin x="-125" y="-533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6/17/26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0DD7D2-A505-3465-19B4-99574FD56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7765288" cy="2896576"/>
          </a:xfrm>
        </p:spPr>
        <p:txBody>
          <a:bodyPr>
            <a:normAutofit/>
          </a:bodyPr>
          <a:lstStyle/>
          <a:p>
            <a:r>
              <a:rPr lang="en-US" dirty="0"/>
              <a:t>web</a:t>
            </a:r>
            <a:r>
              <a:rPr lang="en-IN" dirty="0"/>
              <a:t> </a:t>
            </a:r>
            <a:r>
              <a:rPr lang="en-US" dirty="0"/>
              <a:t>development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BD4330-9429-931D-D153-1AA5A7A5F3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Yash Janjal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C4EB652-1853-B5A0-C4C1-ADBA14CB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301752"/>
            <a:ext cx="7498080" cy="120396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b="1" u="sng" dirty="0"/>
              <a:t>Introduction to Web Development</a:t>
            </a:r>
            <a:br>
              <a:rPr lang="en-IN" b="1" u="sng" dirty="0"/>
            </a:br>
            <a:endParaRPr lang="en-US" u="sn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C67B7D-5B68-84D9-89C8-C3078694B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064512"/>
            <a:ext cx="7470648" cy="3296563"/>
          </a:xfrm>
        </p:spPr>
        <p:txBody>
          <a:bodyPr/>
          <a:lstStyle/>
          <a:p>
            <a:r>
              <a:rPr lang="en-IN" b="1" dirty="0"/>
              <a:t>What is Web Development?</a:t>
            </a:r>
          </a:p>
          <a:p>
            <a:r>
              <a:rPr lang="en-IN" dirty="0"/>
              <a:t>Web Development is the process of creating and maintaining websites and web applications. It involves designing web pages, writing code, and managing website functionality.</a:t>
            </a:r>
          </a:p>
          <a:p>
            <a:r>
              <a:rPr lang="en-IN" b="1" dirty="0"/>
              <a:t>Importance</a:t>
            </a:r>
          </a:p>
          <a:p>
            <a:r>
              <a:rPr lang="en-IN" dirty="0"/>
              <a:t>Helps businesses establish an online presence.</a:t>
            </a:r>
          </a:p>
          <a:p>
            <a:r>
              <a:rPr lang="en-IN" dirty="0"/>
              <a:t>Supports e-commerce, education, and healthcare services.</a:t>
            </a:r>
          </a:p>
          <a:p>
            <a:r>
              <a:rPr lang="en-IN" dirty="0"/>
              <a:t>Makes information accessible worldwide.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870" y="1019556"/>
            <a:ext cx="10515600" cy="1508760"/>
          </a:xfrm>
        </p:spPr>
        <p:txBody>
          <a:bodyPr/>
          <a:lstStyle/>
          <a:p>
            <a:r>
              <a:rPr lang="en-IN" b="1" dirty="0"/>
              <a:t>Frontend vs Backend Development</a:t>
            </a:r>
            <a:br>
              <a:rPr lang="en-IN" b="1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b="1" dirty="0"/>
              <a:t>Backend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b="1" dirty="0"/>
              <a:t>Frontend Development</a:t>
            </a:r>
          </a:p>
          <a:p>
            <a:r>
              <a:rPr lang="en-IN" dirty="0"/>
              <a:t>The part of a website that users see and interact with.</a:t>
            </a:r>
          </a:p>
          <a:p>
            <a:r>
              <a:rPr lang="en-IN" b="1" dirty="0"/>
              <a:t>Technologies:</a:t>
            </a:r>
            <a:endParaRPr lang="en-IN" dirty="0"/>
          </a:p>
          <a:p>
            <a:r>
              <a:rPr lang="en-IN" dirty="0"/>
              <a:t>HTML</a:t>
            </a:r>
          </a:p>
          <a:p>
            <a:r>
              <a:rPr lang="en-IN" dirty="0"/>
              <a:t>CSS</a:t>
            </a:r>
          </a:p>
          <a:p>
            <a:r>
              <a:rPr lang="en-IN" dirty="0"/>
              <a:t>JavaScript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b="1" dirty="0"/>
              <a:t>Backend Development</a:t>
            </a:r>
          </a:p>
          <a:p>
            <a:r>
              <a:rPr lang="en-IN" dirty="0"/>
              <a:t>The server-side part that manages data and website functionality.</a:t>
            </a:r>
          </a:p>
          <a:p>
            <a:r>
              <a:rPr lang="en-IN" b="1" dirty="0"/>
              <a:t>Technologies:</a:t>
            </a:r>
            <a:endParaRPr lang="en-IN" dirty="0"/>
          </a:p>
          <a:p>
            <a:r>
              <a:rPr lang="en-IN" dirty="0" err="1"/>
              <a:t>Node.js</a:t>
            </a:r>
            <a:endParaRPr lang="en-IN" dirty="0"/>
          </a:p>
          <a:p>
            <a:r>
              <a:rPr lang="en-IN" dirty="0"/>
              <a:t>Python</a:t>
            </a:r>
          </a:p>
          <a:p>
            <a:r>
              <a:rPr lang="en-IN" dirty="0"/>
              <a:t>PHP</a:t>
            </a:r>
          </a:p>
          <a:p>
            <a:r>
              <a:rPr lang="en-IN" dirty="0"/>
              <a:t>MySQL</a:t>
            </a: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86F8C9-DB58-829D-1E52-77848C126E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b="1" dirty="0"/>
              <a:t>Frontend :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Html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Provides the structure of a web page using elements like headings, paragraphs, and images.</a:t>
            </a:r>
          </a:p>
          <a:p>
            <a:r>
              <a:rPr lang="en-IN" b="1" dirty="0"/>
              <a:t>CSS</a:t>
            </a:r>
          </a:p>
          <a:p>
            <a:r>
              <a:rPr lang="en-IN" dirty="0"/>
              <a:t>Controls the appearance of a website, including </a:t>
            </a:r>
            <a:r>
              <a:rPr lang="en-IN" dirty="0" err="1"/>
              <a:t>colors</a:t>
            </a:r>
            <a:r>
              <a:rPr lang="en-IN" dirty="0"/>
              <a:t>, fonts, and layouts.</a:t>
            </a:r>
          </a:p>
          <a:p>
            <a:r>
              <a:rPr lang="en-IN" b="1" dirty="0"/>
              <a:t>JavaScript</a:t>
            </a:r>
          </a:p>
          <a:p>
            <a:r>
              <a:rPr lang="en-IN" dirty="0"/>
              <a:t>Adds interactivity and dynamic features such as buttons, forms, and animations.</a:t>
            </a:r>
          </a:p>
          <a:p>
            <a:r>
              <a:rPr lang="en-IN" b="1" dirty="0"/>
              <a:t>Together</a:t>
            </a:r>
          </a:p>
          <a:p>
            <a:r>
              <a:rPr lang="en-IN" dirty="0"/>
              <a:t>HTML builds the structure, CSS styles it, and JavaScript makes it interactive.</a:t>
            </a: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F566548-4DE3-0B13-FAFB-6FBC299C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34327"/>
            <a:ext cx="4846320" cy="2158363"/>
          </a:xfrm>
        </p:spPr>
        <p:txBody>
          <a:bodyPr/>
          <a:lstStyle/>
          <a:p>
            <a:r>
              <a:rPr lang="en-IN" b="1" dirty="0"/>
              <a:t>HTML, CSS, and JavaScript</a:t>
            </a:r>
            <a:br>
              <a:rPr lang="en-IN" b="1" dirty="0"/>
            </a:br>
            <a:r>
              <a:rPr lang="en-IN" b="1" dirty="0"/>
              <a:t>HTML</a:t>
            </a:r>
            <a:br>
              <a:rPr lang="en-IN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4B0DDF-C752-5DA7-BC53-ECF7E676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9808"/>
            <a:ext cx="10515600" cy="274320"/>
          </a:xfrm>
        </p:spPr>
        <p:txBody>
          <a:bodyPr/>
          <a:lstStyle/>
          <a:p>
            <a:r>
              <a:rPr lang="en-IN" b="1" dirty="0"/>
              <a:t>Popular Frameworks and Libraries</a:t>
            </a:r>
            <a:br>
              <a:rPr lang="en-IN" b="1" dirty="0"/>
            </a:b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A4DB4E3-3BD7-4ECD-0E21-A60649A1FB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090" y="2603501"/>
            <a:ext cx="4719542" cy="508000"/>
          </a:xfrm>
        </p:spPr>
        <p:txBody>
          <a:bodyPr/>
          <a:lstStyle/>
          <a:p>
            <a:r>
              <a:rPr lang="en-IN" dirty="0">
                <a:solidFill>
                  <a:srgbClr val="D8BEB2"/>
                </a:solidFill>
              </a:rPr>
              <a:t>Frontend </a:t>
            </a:r>
            <a:endParaRPr lang="en-US" dirty="0">
              <a:solidFill>
                <a:srgbClr val="D8BEB2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D0634E3-46EB-3EFE-A1D3-F118AB080A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111501"/>
            <a:ext cx="4754880" cy="2503169"/>
          </a:xfrm>
        </p:spPr>
        <p:txBody>
          <a:bodyPr/>
          <a:lstStyle/>
          <a:p>
            <a:r>
              <a:rPr lang="en-IN" b="1" dirty="0" err="1"/>
              <a:t>React.js</a:t>
            </a:r>
            <a:endParaRPr lang="en-IN" b="1" dirty="0"/>
          </a:p>
          <a:p>
            <a:r>
              <a:rPr lang="en-IN" dirty="0"/>
              <a:t>Developed by Meta</a:t>
            </a:r>
          </a:p>
          <a:p>
            <a:r>
              <a:rPr lang="en-IN" dirty="0"/>
              <a:t>Fast and scalable</a:t>
            </a:r>
          </a:p>
          <a:p>
            <a:r>
              <a:rPr lang="en-IN" b="1" dirty="0"/>
              <a:t>Angular</a:t>
            </a:r>
          </a:p>
          <a:p>
            <a:r>
              <a:rPr lang="en-IN" dirty="0"/>
              <a:t>Developed by Google</a:t>
            </a:r>
          </a:p>
          <a:p>
            <a:r>
              <a:rPr lang="en-IN" dirty="0"/>
              <a:t>Suitable for large-scale applications</a:t>
            </a:r>
          </a:p>
          <a:p>
            <a:r>
              <a:rPr lang="en-IN" b="1" dirty="0" err="1"/>
              <a:t>Vue.js</a:t>
            </a:r>
            <a:endParaRPr lang="en-IN" dirty="0"/>
          </a:p>
          <a:p>
            <a:r>
              <a:rPr lang="en-IN" dirty="0"/>
              <a:t>Easy integration with projects</a:t>
            </a:r>
          </a:p>
          <a:p>
            <a:r>
              <a:rPr lang="en-IN" b="1" dirty="0"/>
              <a:t>Bootstrap</a:t>
            </a:r>
          </a:p>
          <a:p>
            <a:r>
              <a:rPr lang="en-IN" dirty="0"/>
              <a:t>CSS framework for responsive design</a:t>
            </a:r>
          </a:p>
          <a:p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9D1A6C0-4AC8-7765-6420-E50B27BE0A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111501"/>
            <a:ext cx="4754880" cy="2503169"/>
          </a:xfrm>
        </p:spPr>
        <p:txBody>
          <a:bodyPr/>
          <a:lstStyle/>
          <a:p>
            <a:r>
              <a:rPr lang="en-IN" b="1" dirty="0">
                <a:solidFill>
                  <a:srgbClr val="753F2D"/>
                </a:solidFill>
              </a:rPr>
              <a:t>Backend Frameworks</a:t>
            </a:r>
          </a:p>
          <a:p>
            <a:r>
              <a:rPr lang="en-IN" dirty="0" err="1"/>
              <a:t>Node.js</a:t>
            </a:r>
            <a:r>
              <a:rPr lang="en-IN" dirty="0"/>
              <a:t> &amp; </a:t>
            </a:r>
            <a:r>
              <a:rPr lang="en-IN" dirty="0" err="1"/>
              <a:t>Express.js</a:t>
            </a:r>
            <a:endParaRPr lang="en-IN" dirty="0"/>
          </a:p>
          <a:p>
            <a:r>
              <a:rPr lang="en-IN" dirty="0"/>
              <a:t>Django (Python)</a:t>
            </a:r>
          </a:p>
          <a:p>
            <a:r>
              <a:rPr lang="en-IN" dirty="0" err="1"/>
              <a:t>Laravel</a:t>
            </a:r>
            <a:r>
              <a:rPr lang="en-IN" dirty="0"/>
              <a:t> (PHP)</a:t>
            </a:r>
          </a:p>
          <a:p>
            <a:r>
              <a:rPr lang="en-IN" dirty="0"/>
              <a:t>Spring Boot (Java)</a:t>
            </a:r>
          </a:p>
          <a:p>
            <a:r>
              <a:rPr lang="en-IN" b="1" dirty="0"/>
              <a:t>Benefits:</a:t>
            </a:r>
          </a:p>
          <a:p>
            <a:r>
              <a:rPr lang="en-IN" dirty="0"/>
              <a:t>Faster development</a:t>
            </a:r>
          </a:p>
          <a:p>
            <a:r>
              <a:rPr lang="en-IN" dirty="0"/>
              <a:t>Better code </a:t>
            </a:r>
            <a:r>
              <a:rPr lang="en-IN" dirty="0" err="1"/>
              <a:t>organization</a:t>
            </a:r>
            <a:endParaRPr lang="en-IN" dirty="0"/>
          </a:p>
          <a:p>
            <a:r>
              <a:rPr lang="en-IN" dirty="0"/>
              <a:t>Improved performance and maintenance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6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045113A-77BE-149C-E16B-BDA812F10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0" y="249936"/>
            <a:ext cx="7498080" cy="984404"/>
          </a:xfrm>
        </p:spPr>
        <p:txBody>
          <a:bodyPr/>
          <a:lstStyle/>
          <a:p>
            <a:r>
              <a:rPr lang="en-IN" b="1" dirty="0"/>
              <a:t>Career Opportunities in Web Development</a:t>
            </a:r>
            <a:br>
              <a:rPr lang="en-IN" b="1" dirty="0"/>
            </a:b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9158B43-1E4B-15F2-D5B5-3CDB5C3D71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06390" y="2941370"/>
            <a:ext cx="8379220" cy="975260"/>
          </a:xfrm>
        </p:spPr>
        <p:txBody>
          <a:bodyPr/>
          <a:lstStyle/>
          <a:p>
            <a:r>
              <a:rPr lang="en-IN" b="1" dirty="0"/>
              <a:t>Frontend Developer</a:t>
            </a:r>
          </a:p>
          <a:p>
            <a:r>
              <a:rPr lang="en-IN" dirty="0"/>
              <a:t>Builds user interfaces and improves user experience.</a:t>
            </a:r>
          </a:p>
          <a:p>
            <a:r>
              <a:rPr lang="en-IN" b="1" dirty="0"/>
              <a:t>Backend Developer</a:t>
            </a:r>
          </a:p>
          <a:p>
            <a:r>
              <a:rPr lang="en-IN" dirty="0"/>
              <a:t>Develops server-side logic, APIs, and database systems.</a:t>
            </a:r>
          </a:p>
          <a:p>
            <a:r>
              <a:rPr lang="en-IN" b="1" dirty="0"/>
              <a:t>Full Stack Developer</a:t>
            </a:r>
          </a:p>
          <a:p>
            <a:r>
              <a:rPr lang="en-IN" dirty="0"/>
              <a:t>Works on both frontend and backend technologies.</a:t>
            </a:r>
          </a:p>
          <a:p>
            <a:r>
              <a:rPr lang="en-IN" b="1" dirty="0"/>
              <a:t>Web Application Developer</a:t>
            </a:r>
          </a:p>
          <a:p>
            <a:r>
              <a:rPr lang="en-IN" dirty="0"/>
              <a:t>Develops complete web-based software solutions.</a:t>
            </a:r>
          </a:p>
          <a:p>
            <a:r>
              <a:rPr lang="en-IN" b="1" dirty="0"/>
              <a:t>Skills Required</a:t>
            </a:r>
          </a:p>
          <a:p>
            <a:r>
              <a:rPr lang="en-IN" dirty="0"/>
              <a:t>HTML, CSS, JavaScript</a:t>
            </a:r>
          </a:p>
          <a:p>
            <a:r>
              <a:rPr lang="en-IN" dirty="0"/>
              <a:t>React or Angular</a:t>
            </a:r>
          </a:p>
          <a:p>
            <a:r>
              <a:rPr lang="en-IN" dirty="0"/>
              <a:t>Database Management</a:t>
            </a:r>
          </a:p>
          <a:p>
            <a:r>
              <a:rPr lang="en-IN" dirty="0"/>
              <a:t>Git and GitHub</a:t>
            </a:r>
          </a:p>
          <a:p>
            <a:r>
              <a:rPr lang="en-IN" dirty="0"/>
              <a:t>Problem Solving and Teamwork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C1259C-0A50-37A0-081E-E36D391D7A0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301625"/>
            <a:ext cx="1828800" cy="274638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4D589-C330-607E-B446-0DA52AACC4E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437438" y="1792288"/>
            <a:ext cx="4754562" cy="1682750"/>
          </a:xfrm>
        </p:spPr>
        <p:txBody>
          <a:bodyPr/>
          <a:lstStyle/>
          <a:p>
            <a:r>
              <a:rPr lang="en-US"/>
              <a:t>$14,000 projection for project</a:t>
            </a:r>
          </a:p>
          <a:p>
            <a:r>
              <a:rPr lang="en-US"/>
              <a:t>Main source from angel investors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49C3E-AD51-081C-CB26-BA65EB17C0A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364413" y="3502025"/>
            <a:ext cx="4827587" cy="490538"/>
          </a:xfrm>
        </p:spPr>
        <p:txBody>
          <a:bodyPr/>
          <a:lstStyle/>
          <a:p>
            <a:r>
              <a:rPr lang="en-US"/>
              <a:t>Cost Overruns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518775" y="301625"/>
            <a:ext cx="1673225" cy="274638"/>
          </a:xfrm>
        </p:spPr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D7EC11-5753-5454-A938-E4F664EC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2798763"/>
            <a:ext cx="6400800" cy="2387600"/>
          </a:xfrm>
        </p:spPr>
        <p:txBody>
          <a:bodyPr/>
          <a:lstStyle/>
          <a:p>
            <a:r>
              <a:rPr lang="en-IN" dirty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web development</vt:lpstr>
      <vt:lpstr>Introduction to Web Development </vt:lpstr>
      <vt:lpstr>Frontend vs Backend Development </vt:lpstr>
      <vt:lpstr>HTML, CSS, and JavaScript HTML </vt:lpstr>
      <vt:lpstr>Popular Frameworks and Libraries </vt:lpstr>
      <vt:lpstr>Career Opportunities in Web Development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</dc:title>
  <dc:creator>Yash Janjal</dc:creator>
  <cp:lastModifiedBy>Yash Janjal</cp:lastModifiedBy>
  <cp:revision>3</cp:revision>
  <dcterms:created xsi:type="dcterms:W3CDTF">2026-06-17T01:33:40Z</dcterms:created>
  <dcterms:modified xsi:type="dcterms:W3CDTF">2026-06-17T02:39:54Z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